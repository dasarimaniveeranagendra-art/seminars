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62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Dirty Bit = 0 means the page is clean — disk copy is still valid, so the OS can simply discard it without writing back. Dirty Bit = 1 means the page was modified — the OS MUST write it back to disk before evicting it, or data will be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457200"/>
            <a:ext cx="2560320" cy="2560320"/>
          </a:xfrm>
          <a:prstGeom prst="ellipse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864905"/>
            <a:ext cx="1828800" cy="18288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005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💾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8587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Seminar on How Computers Handle Memory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4370832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|  Operating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What is Memory?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04672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part of a computer that stores data and instructions so the CPU can use them.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75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Real-World Analogy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memory like a desk — RAM is where you keep what you're working on now, and the hard disk is your filing cabinet for finished 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00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currently executing instructions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850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data access for the CPU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12394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03391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OS and user programs simultaneously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804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261872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57984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48CAE4">
              <a:alpha val="88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054096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90E0EF">
              <a:alpha val="76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0540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(Main)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438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3950208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8AACBF">
              <a:alpha val="64000"/>
            </a:srgbClr>
          </a:solidFill>
          <a:ln w="12700">
            <a:solidFill>
              <a:srgbClr val="8AAC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3950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3342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What is Memory Management?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is the process of allocating, tracking, and freeing memory for programs in a computer 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memory to processes.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and where in RAM each process is placed.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50592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508760"/>
            <a:ext cx="914400" cy="914400"/>
          </a:xfrm>
          <a:prstGeom prst="ellipse">
            <a:avLst/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Deallocation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8608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memory after use.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block to the free pool for future processes.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26864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75504" y="1508760"/>
            <a:ext cx="914400" cy="914400"/>
          </a:xfrm>
          <a:prstGeom prst="ellipse">
            <a:avLst/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18304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record of used &amp; free memory.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tables or bitmaps to track every memory block.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03136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51776" y="1508760"/>
            <a:ext cx="914400" cy="914400"/>
          </a:xfrm>
          <a:prstGeom prst="ellipse">
            <a:avLst/>
          </a:prstGeom>
          <a:solidFill>
            <a:srgbClr val="EF476F">
              <a:alpha val="2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94576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31152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one process from accessing another's memory.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isolation and security.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Why is Memory Management Needed?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3977640" cy="406908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Memory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may overwrite each other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can corrupt Process B's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50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gets wasted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blocks never freed — memory leaks.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may crash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leads to instability and crashes.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2560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254203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804672"/>
            <a:ext cx="3977640" cy="4069080"/>
          </a:xfrm>
          <a:prstGeom prst="roundRect">
            <a:avLst>
              <a:gd name="adj" fmla="val 2759"/>
            </a:avLst>
          </a:prstGeom>
          <a:solidFill>
            <a:srgbClr val="0A1A0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896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Memory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3898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memory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8072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exactly the memory it needs.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3042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2350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execution of programs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are isolated — crashes don't spread.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2186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48072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allocation and smart memory reuse.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Types of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04672"/>
            <a:ext cx="4251960" cy="3977640"/>
          </a:xfrm>
          <a:prstGeom prst="roundRect">
            <a:avLst>
              <a:gd name="adj" fmla="val 2759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directly accessible by CPU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Memory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currently running programs &amp;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— data lost on power off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Memory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permanent boot instructions (BIOS)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— retained without power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21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CPU Buffer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fast, located near CPU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frequently accessed data (L1/L2/L3)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804672"/>
            <a:ext cx="4251960" cy="3977640"/>
          </a:xfrm>
          <a:prstGeom prst="roundRect">
            <a:avLst>
              <a:gd name="adj" fmla="val 2759"/>
            </a:avLst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778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2618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slower, larger capacity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91056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Drive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1993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spinning </a:t>
            </a:r>
            <a:r>
              <a:rPr lang="en-US" sz="1050" dirty="0" smtClean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platters</a:t>
            </a:r>
            <a:r>
              <a:rPr lang="en-US" sz="1050" dirty="0" smtClean="0"/>
              <a:t>, </a:t>
            </a:r>
            <a:r>
              <a:rPr lang="en-US" sz="1050" dirty="0" smtClean="0">
                <a:solidFill>
                  <a:srgbClr val="CAF0F8"/>
                </a:solidFill>
                <a:latin typeface="Calibri" pitchFamily="34" charset="0"/>
                <a:cs typeface="Calibri" pitchFamily="34" charset="-120"/>
              </a:rPr>
              <a:t>l</a:t>
            </a:r>
            <a:r>
              <a:rPr lang="en-US" sz="1050" dirty="0" smtClean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 </a:t>
            </a: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(TBs), affordable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86997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334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State Drive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 — no moving parts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HDD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21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Drive / USB Flash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flash storage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Plug-and-play, used for data transfer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Virtual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is a technique that allows execution of large programs by using secondary storage as an extension of main memory. The OS maps virtual addresses to actual RAM.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 Memory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99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4505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 Maps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2029968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0A2540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299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(Physical)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65176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1A1A0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65176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 Large Programs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956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programs bigger than physical RAM using disk.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715768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Process Isolation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0723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has its own private virtual address space.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831336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Efficient Multitasking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4187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share RAM without interfering.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is the technique that makes virtual memory possible.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307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virtual address space (e.g., 4GB on 32-bit). The OS uses a Page Table to translate virtual → physical RAM addresses. Programs think they have dedicated memory.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Paging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divides logical memory into fixed-size pages and physical memory into equal-size frames. The OS maps pages → frames via a Page Table.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Memory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00B4D8">
              <a:alpha val="4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06D6A0">
              <a:alpha val="4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FFD166">
              <a:alpha val="4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5176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F4A261">
              <a:alpha val="4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5468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EF476F">
              <a:alpha val="4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5760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48CAE4">
              <a:alpha val="4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6052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164592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1B2A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6733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  →  Frame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2093976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→  Frame 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0" y="2514600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→  Frame 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2935224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 →  Frame 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335584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→  Frame 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377647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 →  Frame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164592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06D6A0">
              <a:alpha val="3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64592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0 ← Page 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214884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F4A261">
              <a:alpha val="35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14884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 ← Page 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265176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00B4D8">
              <a:alpha val="3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65176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 ← Page 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0" y="315468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48CAE4">
              <a:alpha val="35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15468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 ← Page 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0" y="365760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EF476F">
              <a:alpha val="35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65760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4 ← Page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0" y="416052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FFD166">
              <a:alpha val="3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16052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 ← Page 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4736592"/>
            <a:ext cx="8503920" cy="3200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Benefit: Eliminates external fragmentation — pages don't need to be contiguous in physical memory.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Segmentation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similar to paging, except that the length of segments is variable and pages have a fixed size.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Segments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corresponds to a logical unit: main function, data structures, utility functions, stack.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Map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7157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maintains a table with segment number, size, and base address in physical/virtual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64161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User-Visible Division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584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paging, the user defines segments — code, data, stack are each a separate segment.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segments vary in size, free memory may become fragmented into non-contiguous blocks.</a:t>
            </a:r>
            <a:endParaRPr lang="en-US" sz="1100" dirty="0"/>
          </a:p>
        </p:txBody>
      </p:sp>
      <p:pic>
        <p:nvPicPr>
          <p:cNvPr id="18" name="Image 0" descr="/home/claude/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777240"/>
            <a:ext cx="3657600" cy="2788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257800" y="777240"/>
            <a:ext cx="3657600" cy="2788920"/>
          </a:xfrm>
          <a:prstGeom prst="roundRect">
            <a:avLst>
              <a:gd name="adj" fmla="val 3279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View of Segmentation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57800" y="4041648"/>
            <a:ext cx="365760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vs Segmentation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94960" y="44074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Division: Paging=Fixed-size pages | Segmentation=Variable-size segments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94960" y="46817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Fragmentation: Paging=Internal | Segmentation=External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Demand Paging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50292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785553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804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23444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6093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loaded into RAM only when needed (on demand), not in advance. Reduces initial load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Swapper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5000" y="27980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necessary pages are brought into memory — not the entire process at once.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61188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39867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required page is not in RAM, a page fault triggers the OS to load it from disk.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822192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 Structure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1788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Bit: 1 = page is in RAM; 0 = page is on disk (causes Page Fault)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Bit: 1 = page was modified; must be written back to disk before eviction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Dirty Bit (Modified Bit)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56120"/>
            <a:ext cx="8503920" cy="5486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Dirty Bit is a flag in the Page Table Entry that tracks whether a page has been modified (written to) since it was loaded into RAM.</a:t>
            </a:r>
            <a:endParaRPr lang="en-US" sz="1300" dirty="0"/>
          </a:p>
        </p:txBody>
      </p:sp>
      <p:pic>
        <p:nvPicPr>
          <p:cNvPr id="7" name="Image 0" descr="/home/claude/img_dirty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17320"/>
            <a:ext cx="8353338" cy="34850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8040" y="1453477"/>
            <a:ext cx="7787920" cy="3544674"/>
          </a:xfrm>
          <a:prstGeom prst="roundRect">
            <a:avLst>
              <a:gd name="adj" fmla="val 2577"/>
            </a:avLst>
          </a:prstGeom>
          <a:solidFill>
            <a:srgbClr val="0D1B2A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TLB — Translation Lookaside Buffer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TLB is a fast hardware cache inside the CPU that stores recent Page Table entries to speed up virtual-to-physical address translation.</a:t>
            </a:r>
            <a:endParaRPr lang="en-US" sz="1300" dirty="0"/>
          </a:p>
        </p:txBody>
      </p:sp>
      <p:pic>
        <p:nvPicPr>
          <p:cNvPr id="6" name="Image 0" descr="/home/claude/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493776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2588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TLB → Physical Memory Translation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0" y="132588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TLB HIT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23560" y="1737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address found in TLB → frame number retrieved instantly → access Physical Memory directly.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60604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670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TLB MISS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2356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in TLB → OS walks full Page Table → result cached in TLB for future access.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88620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950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TLB Performance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23560" y="4297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64–1024 entries. Hit rates above 98% common. Dramatically reduces address translation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Swapping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img_sw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87" y="1572768"/>
            <a:ext cx="548640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645920"/>
            <a:ext cx="5486400" cy="3346704"/>
          </a:xfrm>
          <a:prstGeom prst="roundRect">
            <a:avLst>
              <a:gd name="adj" fmla="val 2703"/>
            </a:avLst>
          </a:prstGeom>
          <a:solidFill>
            <a:srgbClr val="0D1B2A">
              <a:alpha val="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04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123444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1B2A3B"/>
          </a:solidFill>
          <a:ln w="15240">
            <a:solidFill>
              <a:srgbClr val="EF4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298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5819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RAM is full, OS moves a process's pages from RAM → Disk to free space.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19456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5420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 resumes, its pages load back from Disk → RAM for execution.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31546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1B2A3B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Space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35021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disk partition or file reserved as overflow storage for RAM.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68094" y="411480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1B2A3B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4178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0" y="4462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for multitasking but slow — disk I/O is far slower than RAM access.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3898" y="850056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1B2A3B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r>
              <a:rPr lang="en-GB" sz="1400" b="1" dirty="0" smtClean="0">
                <a:solidFill>
                  <a:schemeClr val="bg1"/>
                </a:solidFill>
              </a:rPr>
              <a:t>Swapping</a:t>
            </a:r>
            <a:r>
              <a:rPr lang="en-GB" sz="1400" dirty="0" smtClean="0">
                <a:solidFill>
                  <a:schemeClr val="bg1"/>
                </a:solidFill>
              </a:rPr>
              <a:t> </a:t>
            </a:r>
            <a:r>
              <a:rPr lang="en-GB" sz="1400" dirty="0">
                <a:solidFill>
                  <a:schemeClr val="bg1"/>
                </a:solidFill>
              </a:rPr>
              <a:t>is when the OS moves an entire process or its pages between RAM and disk </a:t>
            </a:r>
            <a:r>
              <a:rPr lang="en-GB" sz="1400" dirty="0" smtClean="0">
                <a:solidFill>
                  <a:schemeClr val="bg1"/>
                </a:solidFill>
              </a:rPr>
              <a:t>to free up memory for other processes.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" y="43251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Thrashing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5" name="Image 0" descr="/home/claude/img_thras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48640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60462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0D1B2A">
              <a:alpha val="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04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Thrashing?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89320" y="11704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spends more time swapping pages in/out than actually executing processes.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1810512"/>
            <a:ext cx="2926080" cy="914400"/>
          </a:xfrm>
          <a:prstGeom prst="roundRect">
            <a:avLst>
              <a:gd name="adj" fmla="val 9000"/>
            </a:avLst>
          </a:prstGeom>
          <a:solidFill>
            <a:srgbClr val="1B2A3B"/>
          </a:solidFill>
          <a:ln w="15240">
            <a:solidFill>
              <a:srgbClr val="EF47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21762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processes compete for too little RAM. Every process needs pages the other holds.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2862072"/>
            <a:ext cx="2926080" cy="914400"/>
          </a:xfrm>
          <a:prstGeom prst="roundRect">
            <a:avLst>
              <a:gd name="adj" fmla="val 9000"/>
            </a:avLst>
          </a:prstGeom>
          <a:solidFill>
            <a:srgbClr val="1B2A3B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3227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 crashes. Disk I/O skyrockets. System feels frozen or extremely slow.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913632"/>
            <a:ext cx="2926080" cy="914400"/>
          </a:xfrm>
          <a:prstGeom prst="roundRect">
            <a:avLst>
              <a:gd name="adj" fmla="val 9000"/>
            </a:avLst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42793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processes, add more RAM, or apply working-set model — keep only active pages in RAM.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00584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672334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20117" y="31363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Memory  •  Memory Management  •  Types  •  Virtual Memory  •  Paging  •  Segmentation  •  Demand Paging  •  TLB  •  Swapping  •  Thrashing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1307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- Seminar</dc:title>
  <dc:subject>PptxGenJS Presentation</dc:subject>
  <dc:creator>PptxGenJS</dc:creator>
  <cp:lastModifiedBy>admin</cp:lastModifiedBy>
  <cp:revision>9</cp:revision>
  <dcterms:created xsi:type="dcterms:W3CDTF">2026-06-19T07:22:29Z</dcterms:created>
  <dcterms:modified xsi:type="dcterms:W3CDTF">2026-06-23T06:16:05Z</dcterms:modified>
</cp:coreProperties>
</file>